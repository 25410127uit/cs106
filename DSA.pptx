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10"/>
  </p:normalViewPr>
  <p:slideViewPr>
    <p:cSldViewPr snapToGrid="0" snapToObjects="1">
      <p:cViewPr>
        <p:scale>
          <a:sx n="79" d="100"/>
          <a:sy n="79" d="100"/>
        </p:scale>
        <p:origin x="216" y="-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62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Mục tiêu: hệ thống minh họa/giải thích thuật toán DSA theo từng bước.
[Sources]
- https://en.wikipedia.org/wiki/Algorithm_visualization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https://en.wikipedia.org/wiki/Algorithm_visualization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Kiến trúc tách "thuật toán" (engine) khỏi "hiển thị" (UI) để dễ mở rộng.
[Sources]
- https://en.wikipedia.org/wiki/Separation_of_concerns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 UI nhằm minh họa bố cục. Khi ghép vào code thật, thay ảnh GIF bằng canvas realtime.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https://en.wikipedia.org/wiki/Bubble_sort
- https://en.wikipedia.org/wiki/Quicksort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https://en.wikipedia.org/wiki/Breadth-first_search
- https://en.wikipedia.org/wiki/Dijkstra%27s_algorithm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https://en.wikipedia.org/wiki/AVL_tree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ở đây có thể triển khai tối thiểu bằng hệ chuyên gia (rule-based) để đảm bảo tính giải thích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https://en.wikipedia.org/wiki/Bubble_sort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https://en.wikipedia.org/wiki/Breadth-first_search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này đã nhúng file video demo (nếu PowerPoint hỗ trợ).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gif"/><Relationship Id="rId4" Type="http://schemas.openxmlformats.org/officeDocument/2006/relationships/image" Target="../media/image2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gif"/><Relationship Id="rId4" Type="http://schemas.openxmlformats.org/officeDocument/2006/relationships/image" Target="../media/image4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6.png"/><Relationship Id="rId6" Type="http://schemas.openxmlformats.org/officeDocument/2006/relationships/image" Target="../media/image3.gif"/><Relationship Id="rId7" Type="http://schemas.openxmlformats.org/officeDocument/2006/relationships/image" Target="../media/image5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97280"/>
            <a:ext cx="10561320" cy="342900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  <a:effectLst>
            <a:outerShdw blurRad="635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43000" y="14173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MÔN TRÍ TUỆ NHÂN TẠO (CS106)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19659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Xây dựng hệ thống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minh họa thuật toán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 môn: Cấu trúc dữ liệu &amp; Giải thuật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143000" y="3886200"/>
            <a:ext cx="9966960" cy="0"/>
          </a:xfrm>
          <a:prstGeom prst="line">
            <a:avLst/>
          </a:prstGeom>
          <a:noFill/>
          <a:ln w="38100">
            <a:solidFill>
              <a:srgbClr val="49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43000" y="4069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Nhóm 13:  </a:t>
            </a:r>
            <a:r>
              <a:rPr lang="en-US" sz="14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 GVHD</a:t>
            </a:r>
            <a:r>
              <a:rPr lang="en-US" sz="140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Nguyễn Đình Hiển  </a:t>
            </a:r>
            <a:r>
              <a:rPr lang="en-US" sz="14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 UIT</a:t>
            </a:r>
            <a:r>
              <a:rPr lang="en-US" sz="140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 T12/2025</a:t>
            </a:r>
            <a:endParaRPr lang="en-US" sz="1400" dirty="0"/>
          </a:p>
        </p:txBody>
      </p:sp>
      <p:pic>
        <p:nvPicPr>
          <p:cNvPr id="7" name="Image 0" descr="/mnt/data/dsa_ai_project_assets/bubble_sort.gif"/>
          <p:cNvPicPr>
            <a:picLocks noChangeAspect="1"/>
          </p:cNvPicPr>
          <p:nvPr/>
        </p:nvPicPr>
        <p:blipFill>
          <a:blip r:embed="rId3"/>
          <a:srcRect t="20149" b="20149"/>
          <a:stretch/>
        </p:blipFill>
        <p:spPr>
          <a:xfrm>
            <a:off x="1097280" y="4617720"/>
            <a:ext cx="612648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Vấn đề cần giải quyết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• UIT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051560"/>
            <a:ext cx="5440680" cy="233172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Bối cảnh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709928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Môn DSA có nhiều khái niệm trừu tượng (cây, đồ thị, heap, DP).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viên thường “học thuộc” thay vì hiểu luồng thực thi.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liệu tĩnh (slide/PDF) khó thể hiện quá trình từng bước.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5440680" cy="269748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97280" y="3794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Bài toán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24528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môi trường tương tác để quan sát trạng thái dữ liệu theo thời gian.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Hỗ trợ nhập dữ liệu, chạy từng bước, tua nhanh/chậm.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sinh giải thích (explanation) và câu hỏi kiểm tra hiểu bài.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1051560"/>
            <a:ext cx="4919472" cy="521208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720840" y="128016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Mục tiêu hệ thống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1709928"/>
            <a:ext cx="4370832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Kho thuật toán: sorting, searching, tree, graph, DP cơ bản.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Trình phát hoạt hình (animation player) + timeline bước chạy.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trợ giảng: gợi ý thuật toán &amp; giải thích theo ngữ cảnh.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Xuất báo cáo học tập (log, kết quả, thời gian).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Yêu cầu hệ thống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Chức năng &amp; phi chức năng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Yêu cầu chức năng (Functional)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thuật toán và cấu trúc dữ liệu cần minh họa.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Nhập dữ liệu (mảng, danh sách cạnh, ma trận kề, ...).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Chạy: Step, Play/Pause, Reset, tốc độ, tua timeline.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Hiển thị trạng thái: biến, call stack, hàng đợi/stack.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câu hỏi trắc nghiệm/điền khuyết theo bước chạy.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bài học: lịch sử chạy, kết quả, nhận xét.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Yêu cầu phi chức năng (Non-functional)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15544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Tương tác mượt (&gt;= 30 FPS với dữ liệu vừa).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Dễ mở rộng: thêm thuật toán mới theo plugin interface.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đúng đắn: trạng thái minh họa khớp với thuật toán.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Khả dụng đa nền tảng (trình duyệt web).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 &amp; reproducibility: chạy lại cùng input cho cùng output.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Bảo mật cơ bản: phân quyền tài khoản, chống input xấu.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10561320" cy="205740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9728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 chế độ minh họa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736592"/>
            <a:ext cx="2093976" cy="310896"/>
          </a:xfrm>
          <a:prstGeom prst="rect">
            <a:avLst/>
          </a:prstGeom>
          <a:solidFill>
            <a:srgbClr val="49B6FF"/>
          </a:solidFill>
          <a:ln>
            <a:solidFill>
              <a:srgbClr val="49B6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4736592"/>
            <a:ext cx="1874520" cy="310896"/>
          </a:xfrm>
          <a:prstGeom prst="rect">
            <a:avLst/>
          </a:prstGeom>
          <a:solidFill>
            <a:srgbClr val="7CFFB2"/>
          </a:solidFill>
          <a:ln>
            <a:solidFill>
              <a:srgbClr val="7CFFB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biến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4736592"/>
            <a:ext cx="1655064" cy="310896"/>
          </a:xfrm>
          <a:prstGeom prst="rect">
            <a:avLst/>
          </a:prstGeom>
          <a:solidFill>
            <a:srgbClr val="FFB020"/>
          </a:solidFill>
          <a:ln>
            <a:solidFill>
              <a:srgbClr val="FFB02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1545336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sánh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5074920"/>
            <a:ext cx="1234440" cy="310896"/>
          </a:xfrm>
          <a:prstGeom prst="rect">
            <a:avLst/>
          </a:prstGeom>
          <a:solidFill>
            <a:srgbClr val="49B6FF"/>
          </a:solidFill>
          <a:ln>
            <a:solidFill>
              <a:srgbClr val="49B6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69080" y="5074920"/>
            <a:ext cx="1655064" cy="310896"/>
          </a:xfrm>
          <a:prstGeom prst="rect">
            <a:avLst/>
          </a:prstGeom>
          <a:solidFill>
            <a:srgbClr val="7CFFB2"/>
          </a:solidFill>
          <a:ln>
            <a:solidFill>
              <a:srgbClr val="7CFFB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Gợi ý 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5046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hợp trực quan + tương tác + phản hồi tức thời để tăng “hiểu cơ chế” thay vì học thuộc.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Tổng quan giải pháp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Visualizer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097280"/>
            <a:ext cx="10561320" cy="507492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Hệ thống gồm 3 lớp chính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1783080"/>
            <a:ext cx="2971800" cy="425196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Front-end (UI)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25880" y="2304288"/>
            <a:ext cx="2606040" cy="347472"/>
          </a:xfrm>
          <a:prstGeom prst="roundRect">
            <a:avLst/>
          </a:prstGeom>
          <a:solidFill>
            <a:srgbClr val="16324B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399032" y="2377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Canvas/DOM • Timeline • Input widget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Vẽ trạng thái theo khung hình</a:t>
            </a:r>
            <a:endParaRPr lang="en-US" sz="1250" dirty="0"/>
          </a:p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khiển tốc độ</a:t>
            </a:r>
            <a:endParaRPr lang="en-US" sz="1250" dirty="0"/>
          </a:p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Hiển thị biến &amp; log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1783080"/>
            <a:ext cx="2971800" cy="425196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26280" y="1965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 (Core)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26280" y="2304288"/>
            <a:ext cx="2606040" cy="347472"/>
          </a:xfrm>
          <a:prstGeom prst="roundRect">
            <a:avLst/>
          </a:prstGeom>
          <a:solidFill>
            <a:srgbClr val="16324B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99432" y="2377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generator • State machine • Plugin 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283464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Chạy thuật toán và sinh “bước”</a:t>
            </a:r>
            <a:endParaRPr lang="en-US" sz="1250" dirty="0"/>
          </a:p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hóa trạng thái</a:t>
            </a:r>
            <a:endParaRPr lang="en-US" sz="1250" dirty="0"/>
          </a:p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thuật toán khỏi UI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1783080"/>
            <a:ext cx="2971800" cy="425196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26680" y="1965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AI offline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26680" y="2304288"/>
            <a:ext cx="2606040" cy="347472"/>
          </a:xfrm>
          <a:prstGeom prst="roundRect">
            <a:avLst/>
          </a:prstGeom>
          <a:solidFill>
            <a:srgbClr val="16324B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99832" y="2377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• Gợi ý • Lưu log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0" y="283464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câu hỏi theo trace</a:t>
            </a:r>
            <a:endParaRPr lang="en-US" sz="1250" dirty="0"/>
          </a:p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Gợi ý chọn thuật toán</a:t>
            </a:r>
            <a:endParaRPr lang="en-US" sz="1250" dirty="0"/>
          </a:p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lịch sử học tập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Kiến trúc hệ thống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Sơ đồ tổng thể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2011680" cy="914400"/>
          </a:xfrm>
          <a:prstGeom prst="roundRect">
            <a:avLst/>
          </a:prstGeom>
          <a:solidFill>
            <a:srgbClr val="0E2B44"/>
          </a:solidFill>
          <a:ln w="12700">
            <a:solidFill>
              <a:srgbClr val="49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15270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Sinh viên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8960" y="1051560"/>
            <a:ext cx="3749040" cy="192024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9184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Notebook (ipywidgets)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 widget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Canvas/Animation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Timeline/Controls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Log/Variables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08960" y="3246120"/>
            <a:ext cx="3749040" cy="201168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291840" y="3429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379476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Step Generator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Machine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Plugin API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1051560"/>
            <a:ext cx="3977640" cy="3657600"/>
          </a:xfrm>
          <a:prstGeom prst="roundRect">
            <a:avLst/>
          </a:prstGeom>
          <a:solidFill>
            <a:srgbClr val="0E2B44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680960" y="12344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Back-end / Services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26680" y="16002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thuật toán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Lưu lịch sử chạy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Tài khoản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Quiz &amp; AI gợi ý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18120" y="3200400"/>
            <a:ext cx="3566160" cy="132588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95528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CSDL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0" y="3703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/ Logs / Inputs / Results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97480" y="1737360"/>
            <a:ext cx="411480" cy="0"/>
          </a:xfrm>
          <a:prstGeom prst="line">
            <a:avLst/>
          </a:prstGeom>
          <a:noFill/>
          <a:ln w="38100">
            <a:solidFill>
              <a:srgbClr val="49B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423160" y="7863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/ WS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2011680"/>
            <a:ext cx="594360" cy="0"/>
          </a:xfrm>
          <a:prstGeom prst="line">
            <a:avLst/>
          </a:prstGeom>
          <a:noFill/>
          <a:ln w="38100">
            <a:solidFill>
              <a:srgbClr val="FFB02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967728" y="1755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4251960"/>
            <a:ext cx="594360" cy="0"/>
          </a:xfrm>
          <a:prstGeom prst="line">
            <a:avLst/>
          </a:prstGeom>
          <a:noFill/>
          <a:ln w="38100">
            <a:solidFill>
              <a:srgbClr val="7CFF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967728" y="39502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5) Luồng xử lý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input đến animation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2057400" cy="228600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33272" y="219456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Nhập dữ liệu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3272" y="2651760"/>
            <a:ext cx="17282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Mảng / cạnh / truy vấn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tham số minh họa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3154680"/>
            <a:ext cx="228600" cy="0"/>
          </a:xfrm>
          <a:prstGeom prst="line">
            <a:avLst/>
          </a:prstGeom>
          <a:noFill/>
          <a:ln w="38100">
            <a:solidFill>
              <a:srgbClr val="49B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154680" y="2011680"/>
            <a:ext cx="2057400" cy="228600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19272" y="219456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Parse &amp; Validate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9272" y="2651760"/>
            <a:ext cx="17282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định dạng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sửa lỗi nhỏ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3154680"/>
            <a:ext cx="228600" cy="0"/>
          </a:xfrm>
          <a:prstGeom prst="line">
            <a:avLst/>
          </a:prstGeom>
          <a:noFill/>
          <a:ln w="38100">
            <a:solidFill>
              <a:srgbClr val="49B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40680" y="2011680"/>
            <a:ext cx="2057400" cy="228600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605272" y="219456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Chạy thuật toán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05272" y="2651760"/>
            <a:ext cx="17282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chuỗi bước (trace)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sau mỗi thao tác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3154680"/>
            <a:ext cx="228600" cy="0"/>
          </a:xfrm>
          <a:prstGeom prst="line">
            <a:avLst/>
          </a:prstGeom>
          <a:noFill/>
          <a:ln w="38100">
            <a:solidFill>
              <a:srgbClr val="49B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726680" y="2011680"/>
            <a:ext cx="2057400" cy="228600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891272" y="219456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Render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91272" y="2651760"/>
            <a:ext cx="17282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Chuyển state -&gt; hình vẽ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Tối ưu FPS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4080" y="3154680"/>
            <a:ext cx="228600" cy="0"/>
          </a:xfrm>
          <a:prstGeom prst="line">
            <a:avLst/>
          </a:prstGeom>
          <a:noFill/>
          <a:ln w="38100">
            <a:solidFill>
              <a:srgbClr val="49B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012680" y="2011680"/>
            <a:ext cx="2057400" cy="228600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177272" y="219456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Giải thích &amp; Quiz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77272" y="2651760"/>
            <a:ext cx="17282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lời giải theo bước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 kiểm tra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Ý tưởng chính: mô hình hóa thuật toán thành chuỗi bước có cấu trúc (structured trace) để UI render độc lập.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6) Thiết kế giao diện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097280"/>
            <a:ext cx="10561320" cy="507492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51560" y="1417320"/>
            <a:ext cx="2834640" cy="443484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Thuật toán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1965960"/>
            <a:ext cx="2468880" cy="384048"/>
          </a:xfrm>
          <a:prstGeom prst="roundRect">
            <a:avLst/>
          </a:prstGeom>
          <a:solidFill>
            <a:srgbClr val="49B6F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89888" y="20391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34440" y="2468880"/>
            <a:ext cx="2468880" cy="384048"/>
          </a:xfrm>
          <a:prstGeom prst="roundRect">
            <a:avLst/>
          </a:prstGeom>
          <a:solidFill>
            <a:srgbClr val="16274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389888" y="25420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34440" y="2971800"/>
            <a:ext cx="2468880" cy="384048"/>
          </a:xfrm>
          <a:prstGeom prst="roundRect">
            <a:avLst/>
          </a:prstGeom>
          <a:solidFill>
            <a:srgbClr val="16274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389888" y="3044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34440" y="3474720"/>
            <a:ext cx="2468880" cy="384048"/>
          </a:xfrm>
          <a:prstGeom prst="roundRect">
            <a:avLst/>
          </a:prstGeom>
          <a:solidFill>
            <a:srgbClr val="16274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389888" y="3547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34440" y="3977640"/>
            <a:ext cx="2468880" cy="384048"/>
          </a:xfrm>
          <a:prstGeom prst="roundRect">
            <a:avLst/>
          </a:prstGeom>
          <a:solidFill>
            <a:srgbClr val="162746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389888" y="40507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4617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34440" y="4892040"/>
            <a:ext cx="2468880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371600" y="49926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5 1 4 2 8 6 3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285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| Step | Reset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69080" y="1417320"/>
            <a:ext cx="7132320" cy="3108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251960" y="16002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minh họa</a:t>
            </a:r>
            <a:endParaRPr lang="en-US" sz="1200" dirty="0"/>
          </a:p>
        </p:txBody>
      </p:sp>
      <p:pic>
        <p:nvPicPr>
          <p:cNvPr id="27" name="Image 0" descr="/mnt/data/dsa_ai_project_assets/bubble_sor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840" y="1874520"/>
            <a:ext cx="4551680" cy="25603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4069080" y="4663440"/>
            <a:ext cx="7132320" cy="118872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4251960" y="48463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Timeline / Trace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297680" y="5257800"/>
            <a:ext cx="6583680" cy="164592"/>
          </a:xfrm>
          <a:prstGeom prst="rect">
            <a:avLst/>
          </a:prstGeom>
          <a:solidFill>
            <a:srgbClr val="162746"/>
          </a:solidFill>
          <a:ln w="12700">
            <a:solidFill>
              <a:srgbClr val="1627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8"/>
          <p:cNvSpPr/>
          <p:nvPr/>
        </p:nvSpPr>
        <p:spPr>
          <a:xfrm>
            <a:off x="4297680" y="5257800"/>
            <a:ext cx="2011680" cy="164592"/>
          </a:xfrm>
          <a:prstGeom prst="rect">
            <a:avLst/>
          </a:prstGeom>
          <a:solidFill>
            <a:srgbClr val="49B6FF"/>
          </a:solidFill>
          <a:ln w="12700">
            <a:solidFill>
              <a:srgbClr val="49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4251960" y="54864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Bước 23/120 • swap(a[j], a[j+1])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7) Minh họa thuật toán: Sorting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Bubble/Quick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Bubble Sort</a:t>
            </a:r>
            <a:endParaRPr lang="en-US" sz="1800" dirty="0"/>
          </a:p>
        </p:txBody>
      </p:sp>
      <p:pic>
        <p:nvPicPr>
          <p:cNvPr id="9" name="Image 0" descr="/mnt/data/dsa_ai_project_assets/bubble_sor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" y="1463040"/>
            <a:ext cx="4876800" cy="2743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1097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Sort</a:t>
            </a:r>
            <a:endParaRPr lang="en-US" sz="1800" dirty="0"/>
          </a:p>
        </p:txBody>
      </p:sp>
      <p:pic>
        <p:nvPicPr>
          <p:cNvPr id="11" name="Image 1" descr="/mnt/data/dsa_ai_project_assets/quick_sor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463040"/>
            <a:ext cx="4876800" cy="274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2960" y="4434840"/>
            <a:ext cx="10561320" cy="169164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105156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Điểm nhấn sư phạm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51560" y="4919472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Trực quan hóa “so sánh” vs “đổi chỗ”.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Tô màu vùng đã sắp xếp / phân hoạch.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 phép thay đổi tốc độ và dừng tại bước quan trọng.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sánh độ phức tạp: O(n^2) vs O(n log n) (trung bình).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8) Minh họa thuật toán: Graph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BFS/Dijkstra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BFS (hàng đợi)</a:t>
            </a:r>
            <a:endParaRPr lang="en-US" sz="1800" dirty="0"/>
          </a:p>
        </p:txBody>
      </p:sp>
      <p:pic>
        <p:nvPicPr>
          <p:cNvPr id="9" name="Image 0" descr="/mnt/data/dsa_ai_project_assets/bf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20" y="1463040"/>
            <a:ext cx="5201920" cy="2926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1097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Dijkstra (priority queue)</a:t>
            </a:r>
            <a:endParaRPr lang="en-US" sz="1800" dirty="0"/>
          </a:p>
        </p:txBody>
      </p:sp>
      <p:pic>
        <p:nvPicPr>
          <p:cNvPr id="11" name="Image 1" descr="/mnt/data/dsa_ai_project_assets/dijkstra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00" y="1463040"/>
            <a:ext cx="3251200" cy="29260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2960" y="4526280"/>
            <a:ext cx="10561320" cy="160020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105156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 sát được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51560" y="5010912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BFS: frontier (queue) và visited set.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Dijkstra: đỉnh “chốt” theo dist nhỏ nhất + đường đi ngắn nhất.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Hiển thị bảng dist/parent theo thời gian.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9) Minh họa cấu trúc dữ liệu: Cây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BST traversal (BFS/DFS)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097280"/>
            <a:ext cx="10561320" cy="507492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Duyệt BST giúp mô phỏng đường đi duyệt tìm kiếm nhị phân</a:t>
            </a:r>
            <a:endParaRPr lang="en-US" sz="1800" dirty="0"/>
          </a:p>
        </p:txBody>
      </p:sp>
      <p:pic>
        <p:nvPicPr>
          <p:cNvPr id="10" name="Image 0" descr="/mnt/data/dsa_ai_project_assets/avl_rotati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28800"/>
            <a:ext cx="658368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863840" y="1828800"/>
            <a:ext cx="3429000" cy="411480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092440" y="2011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Ý nghĩa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92440" y="2359152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Cân bằng chiều cao =&gt; tìm kiếm O(log n).</a:t>
            </a:r>
            <a:endParaRPr lang="en-US" sz="1250" dirty="0"/>
          </a:p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Hiển thị BF (balance factor).</a:t>
            </a:r>
            <a:endParaRPr lang="en-US" sz="1250" dirty="0"/>
          </a:p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 phép xem trước/sau xoay.</a:t>
            </a:r>
            <a:endParaRPr lang="en-US" sz="1250" dirty="0"/>
          </a:p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Áp dụng cho insert/delete.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10) Thành phần “AI” trong đồ án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+ tìm kiếm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 sz="1600"/>
            </a:pPr>
            <a:r>
              <a:t>Mục tiêu AI (offline): hỗ trợ học tập, giải thích được</a:t>
            </a:r>
            <a:endParaRPr lang="en-US" sz="1800" dirty="0"/>
          </a:p>
          <a:p>
            <a:pPr>
              <a:defRPr sz="1300"/>
            </a:pPr>
            <a:r>
              <a:t>1) Hỏi đáp theo lý thuyết (RAG-lite)</a:t>
            </a:r>
          </a:p>
          <a:p>
            <a:pPr lvl="1">
              <a:defRPr sz="1300"/>
            </a:pPr>
            <a:r>
              <a:t>- Truy xuất đoạn liên quan từ THEORY_CONTENT bằng TF‑IDF (không Internet)</a:t>
            </a:r>
          </a:p>
          <a:p>
            <a:pPr lvl="1">
              <a:defRPr sz="1300"/>
            </a:pPr>
            <a:r>
              <a:t>- Trả lời theo template (định nghĩa / so sánh / khi nào dùng / độ phức tạp)</a:t>
            </a:r>
          </a:p>
          <a:p>
            <a:pPr>
              <a:defRPr sz="1300"/>
            </a:pPr>
            <a:r>
              <a:t>2) Tư vấn chọn thuật toán (Expert system)</a:t>
            </a:r>
          </a:p>
          <a:p>
            <a:pPr lvl="1">
              <a:defRPr sz="1300"/>
            </a:pPr>
            <a:r>
              <a:t>- Luật IF‑THEN theo ràng buộc: n, nearly_sorted, stable, memory, weighted/negative, ...</a:t>
            </a:r>
          </a:p>
          <a:p>
            <a:pPr lvl="1">
              <a:defRPr sz="1300"/>
            </a:pPr>
            <a:r>
              <a:t>- Trả về (gợi ý + lý do) để dễ chấm và dễ hiểu</a:t>
            </a:r>
          </a:p>
          <a:p>
            <a:pPr>
              <a:defRPr sz="1300"/>
            </a:pPr>
            <a:r>
              <a:t>3) Chấm bài &amp; phản hồi nhanh</a:t>
            </a:r>
          </a:p>
          <a:p>
            <a:pPr lvl="1">
              <a:defRPr sz="1300"/>
            </a:pPr>
            <a:r>
              <a:t>- Chạy test + kiểm tra luật (không dùng sort built‑in, tránh eval/open, ...)</a:t>
            </a:r>
          </a:p>
          <a:p>
            <a:pPr lvl="1">
              <a:defRPr sz="1300"/>
            </a:pPr>
            <a:r>
              <a:t>- Báo cáo lỗi + gợi ý cải thiện</a:t>
            </a:r>
          </a:p>
          <a:p>
            <a:pPr>
              <a:defRPr sz="1300"/>
            </a:pPr>
            <a:r>
              <a:t>4) Nút “Minh hoạ ngay”</a:t>
            </a:r>
          </a:p>
          <a:p>
            <a:pPr lvl="1">
              <a:defRPr sz="1300"/>
            </a:pPr>
            <a:r>
              <a:t>- Chuyển sang tab Mô phỏng và chạy BFS/DFS/Sorting tương ứng</a:t>
            </a:r>
          </a:p>
        </p:txBody>
      </p:sp>
      <p:sp>
        <p:nvSpPr>
          <p:cNvPr id="9" name="Shape 7"/>
          <p:cNvSpPr/>
          <p:nvPr/>
        </p:nvSpPr>
        <p:spPr>
          <a:xfrm>
            <a:off x="822960" y="1600200"/>
            <a:ext cx="5486400" cy="224028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Gợi ý chọn thuật toán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58568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 thức miền: bảng luật IF-THEN (dựa trên input &amp; mục tiêu).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Heuristic: ưu tiên thuật toán phù hợp kích thước dữ liệu.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Giải thích được: hiển thị “vì sao gợi ý”.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600200"/>
            <a:ext cx="4919472" cy="224028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20840" y="182880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Sinh câu hỏi (Quiz)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2258568"/>
            <a:ext cx="4370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trace -&gt; tạo câu hỏi theo bước then chốt.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 dụ: “sau bước này, queue chứa gì?”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Chấm điểm + phản hồi ngay.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069080"/>
            <a:ext cx="5486400" cy="205740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97280" y="4297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Phát hiện lỗi thường gặp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727448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input; cảnh báo trường hợp biên.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sánh kết quả người học dự đoán với trace chuẩn.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Gợi ý học lại khái niệm liên quan.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4069080"/>
            <a:ext cx="4919472" cy="205740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20840" y="429768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Tự điều chỉnh độ khó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4727448"/>
            <a:ext cx="43708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lịch sử làm quiz và thời gian hoàn thành.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test case khó dần (tăng n, thêm trường hợp đặc biệt).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Lộ trình học cá nhân hóa.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11) Cơ sở lý thuyết &amp; mã giả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 Sort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097280"/>
            <a:ext cx="10561320" cy="507492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Bubble Sort (mã giả)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1783080"/>
            <a:ext cx="603504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56692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BUBBLE_SORT(A):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&lt;- length(A)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&lt;- 0 .. n-1: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swapped &lt;- false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&lt;- 0 .. n-i-2: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emit_state(A, compare=(j,j+1))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A[j] &gt; A[j+1]: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swap(A[j], A[j+1])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swapped &lt;- true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emit_state(A, swap=(j,j+1))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swapped == false: break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0920" y="1874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Ý tưởng “emit_state”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22402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không vẽ trực tiếp.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thao tác quan trọng -&gt; phát ra một “state”.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nhận state -&gt; render frame.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gồm: mảng, con trỏ i/j, vùng đã sắp xếp, message.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800" b="1">
                <a:latin typeface="Calibri"/>
              </a:rPr>
              <a:t>12) Minh họa cấu trúc dữ liệu: Linked 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2000" b="1">
                <a:latin typeface="Calibri"/>
              </a:rPr>
              <a:t>Linked List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097280"/>
            <a:ext cx="10561320" cy="507492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Singly Linked List (mã giả)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94588" y="1920240"/>
            <a:ext cx="6256020" cy="477316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035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INSERT_HEAD(head, x):</a:t>
            </a:r>
            <a:endParaRPr lang="en-US" sz="1300" dirty="0"/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node &lt;- new Node(x)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node.next &lt;- head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head &lt;- node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emit_state(list=head, highlight=node)</a:t>
            </a:r>
          </a:p>
          <a:p>
            <a:pPr>
              <a:defRPr sz="1400">
                <a:latin typeface="Consolas"/>
              </a:defRPr>
            </a:pPr>
            <a:endParaRPr sz="1400">
              <a:solidFill>
                <a:srgbClr val="F0F0F0"/>
              </a:solidFill>
              <a:latin typeface="Consolas"/>
            </a:endParaRP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DELETE_VALUE(head, x):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dummy.next &lt;- head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prev &lt;- dummy; cur &lt;- head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while cur != null and cur.val != x: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  prev &lt;- cur; cur &lt;- cur.next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if cur != null: prev.next &lt;- cur.next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head &lt;- dummy.next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emit_state(list=head, highlight=cur)</a:t>
            </a:r>
          </a:p>
          <a:p>
            <a:pPr>
              <a:defRPr sz="1400">
                <a:latin typeface="Consolas"/>
              </a:defRPr>
            </a:pPr>
            <a:endParaRPr sz="1400">
              <a:solidFill>
                <a:srgbClr val="F0F0F0"/>
              </a:solidFill>
              <a:latin typeface="Consolas"/>
            </a:endParaRP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REVERSE(head):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prev &lt;- null; cur &lt;- head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while cur != null: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  nxt &lt;- cur.next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  cur.next &lt;- prev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  prev &lt;- cur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  cur &lt;- nxt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  emit_state(list=prev, current=cur)</a:t>
            </a:r>
          </a:p>
          <a:p>
            <a:pPr>
              <a:defRPr sz="1400">
                <a:latin typeface="Consolas"/>
              </a:defRPr>
            </a:pPr>
            <a:r>
              <a:rPr sz="1400">
                <a:solidFill>
                  <a:srgbClr val="F0F0F0"/>
                </a:solidFill>
                <a:latin typeface="Consolas"/>
              </a:rPr>
              <a:t>  return prev</a:t>
            </a:r>
          </a:p>
        </p:txBody>
      </p:sp>
      <p:sp>
        <p:nvSpPr>
          <p:cNvPr id="12" name="Text 10"/>
          <p:cNvSpPr/>
          <p:nvPr/>
        </p:nvSpPr>
        <p:spPr>
          <a:xfrm>
            <a:off x="772668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 b="1">
                <a:solidFill>
                  <a:srgbClr val="F5F5F5"/>
                </a:solidFill>
                <a:latin typeface="Calibri"/>
              </a:rPr>
              <a:t>Điểm cần minh họa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26680" y="22402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buSzPct val="100000"/>
              <a:buChar char="•"/>
              <a:defRPr sz="1400">
                <a:latin typeface="Calibri"/>
              </a:defRPr>
            </a:pPr>
            <a:r>
              <a:t>Cấu trúc Node {val, next} và liên kết giữa các nút.</a:t>
            </a:r>
            <a:endParaRPr lang="en-US" sz="1300" dirty="0"/>
          </a:p>
          <a:p>
            <a:pPr>
              <a:defRPr sz="1400">
                <a:latin typeface="Calibri"/>
              </a:defRPr>
            </a:pPr>
            <a:r>
              <a:t>Chèn/Xóa: cập nhật con trỏ next (thay đổi liên kết).</a:t>
            </a:r>
          </a:p>
          <a:p>
            <a:pPr>
              <a:defRPr sz="1400">
                <a:latin typeface="Calibri"/>
              </a:defRPr>
            </a:pPr>
            <a:r>
              <a:t>Duyệt &amp; tìm kiếm: current di chuyển theo next.</a:t>
            </a:r>
          </a:p>
          <a:p>
            <a:pPr>
              <a:defRPr sz="1400">
                <a:latin typeface="Calibri"/>
              </a:defRPr>
            </a:pPr>
            <a:r>
              <a:t>Reverse: theo dõi prev–cur–nxt qua từng bước.</a:t>
            </a:r>
          </a:p>
          <a:p>
            <a:pPr>
              <a:defRPr sz="1400">
                <a:latin typeface="Calibri"/>
              </a:defRPr>
            </a:pPr>
            <a:r>
              <a:t>Màu sắc: node hiện tại, node bị thay đổi liên kết, NULL.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868680"/>
            <a:ext cx="822960" cy="502920"/>
          </a:xfrm>
          <a:prstGeom prst="roundRect">
            <a:avLst/>
          </a:prstGeom>
          <a:solidFill>
            <a:srgbClr val="E6F2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Calibri"/>
              </a:defRPr>
            </a:pPr>
            <a:r>
              <a:t>10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302752" y="1005840"/>
            <a:ext cx="411480" cy="228600"/>
          </a:xfrm>
          <a:prstGeom prst="rightArrow">
            <a:avLst/>
          </a:prstGeom>
          <a:solidFill>
            <a:srgbClr val="C8C8C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787384" y="868680"/>
            <a:ext cx="822960" cy="502920"/>
          </a:xfrm>
          <a:prstGeom prst="roundRect">
            <a:avLst/>
          </a:prstGeom>
          <a:solidFill>
            <a:srgbClr val="E6F2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Calibri"/>
              </a:defRPr>
            </a:pPr>
            <a:r>
              <a:t>20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683496" y="1005840"/>
            <a:ext cx="411480" cy="228600"/>
          </a:xfrm>
          <a:prstGeom prst="rightArrow">
            <a:avLst/>
          </a:prstGeom>
          <a:solidFill>
            <a:srgbClr val="C8C8C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94976" y="868680"/>
            <a:ext cx="822960" cy="502920"/>
          </a:xfrm>
          <a:prstGeom prst="roundRect">
            <a:avLst/>
          </a:prstGeom>
          <a:solidFill>
            <a:srgbClr val="E6F2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Calibri"/>
              </a:defRPr>
            </a:pPr>
            <a: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91088" y="9601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NULL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13) Thiết kế &amp; triển khai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Plugin-based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Thiết kế theo hướng plugin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508760"/>
            <a:ext cx="10561320" cy="461772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97280" y="1828800"/>
            <a:ext cx="5943600" cy="40233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AlgorithmPlugin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parseInput(raw): Input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generator(input): Iterable&lt;State&gt;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render(state): RenderModel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quiz(state): Question[]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State: snapshot tối thiểu để tái tạo hình vẽ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RenderModel: mô tả hình học (nodes/edges/bars)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Lợi ích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2402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Thêm thuật toán mới mà không chạm UI tổng.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được từng plugin (unit test).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 thể chạy “headless” để benchmark.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Tái sử dụng engine cho mobile/desktop.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6948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Nguyên tắc: “Algorithm -&gt; Trace -&gt; Render”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9480" y="4160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là hợp đồng (contract) giữa engine và UI: dễ debug, dễ tái lập, dễ sinh quiz.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14) Phương pháp thực hiện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Quy trình đề xuất (gọn, phù hợp đồ án môn học)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10561320" cy="77724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Phân tích yêu cầu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77640" y="1892808"/>
            <a:ext cx="7178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Use-case, thuật toán mục tiêu, input/output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651760"/>
            <a:ext cx="10561320" cy="77724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Thiết kế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77640" y="2852928"/>
            <a:ext cx="7178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Kiến trúc, plugin API, state schema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611880"/>
            <a:ext cx="10561320" cy="77724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97280" y="3794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Triển khai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3813048"/>
            <a:ext cx="7178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+ UI + lưu log + quiz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572000"/>
            <a:ext cx="10561320" cy="77724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97280" y="47548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Kiểm thử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77640" y="4773168"/>
            <a:ext cx="7178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Correctness, UI, hiệu năng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5532120"/>
            <a:ext cx="10561320" cy="77724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97280" y="5715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5) Đánh giá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5733288"/>
            <a:ext cx="7178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Khảo sát người học, benchmark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16)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+ Video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097280"/>
            <a:ext cx="10561320" cy="507492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 demo (MP4)</a:t>
            </a:r>
            <a:r>
              <a:t/>
            </a:r>
            <a:endParaRPr lang="en-US" sz="1800" dirty="0"/>
          </a:p>
        </p:txBody>
      </p:sp>
      <p:pic>
        <p:nvPicPr>
          <p:cNvPr id="10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7280" y="1737360"/>
            <a:ext cx="6949440" cy="4206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1325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Ảnh minh họa nhanh</a:t>
            </a:r>
            <a:endParaRPr lang="en-US" sz="1800" dirty="0"/>
          </a:p>
          <a:p>
            <a:pPr>
              <a:defRPr sz="1400"/>
            </a:pPr>
            <a:r>
              <a:t>Demo thêm: Tab AI Trợ giảng (Hỏi đáp / Tư vấn / Chấm bài)</a:t>
            </a:r>
          </a:p>
        </p:txBody>
      </p:sp>
      <p:pic>
        <p:nvPicPr>
          <p:cNvPr id="12" name="Image 0" descr="/mnt/data/dsa_ai_project_assets/bfs.gif"/>
          <p:cNvPicPr>
            <a:picLocks noChangeAspect="1"/>
          </p:cNvPicPr>
          <p:nvPr/>
        </p:nvPicPr>
        <p:blipFill>
          <a:blip r:embed="rId6"/>
          <a:srcRect l="6177" r="6177"/>
          <a:stretch/>
        </p:blipFill>
        <p:spPr>
          <a:xfrm>
            <a:off x="8321040" y="1737360"/>
            <a:ext cx="3063240" cy="1965960"/>
          </a:xfrm>
          <a:prstGeom prst="rect">
            <a:avLst/>
          </a:prstGeom>
        </p:spPr>
      </p:pic>
      <p:pic>
        <p:nvPicPr>
          <p:cNvPr id="13" name="Image 1" descr="/mnt/data/dsa_ai_project_assets/avl_rotation.gif"/>
          <p:cNvPicPr>
            <a:picLocks noChangeAspect="1"/>
          </p:cNvPicPr>
          <p:nvPr/>
        </p:nvPicPr>
        <p:blipFill>
          <a:blip r:embed="rId7"/>
          <a:srcRect l="1308" r="1308"/>
          <a:stretch/>
        </p:blipFill>
        <p:spPr>
          <a:xfrm>
            <a:off x="8321040" y="3977640"/>
            <a:ext cx="306324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17) Hướng dẫn sử dụng nhanh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bước để học với hệ thống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2514600" cy="288036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2057400"/>
            <a:ext cx="502920" cy="502920"/>
          </a:xfrm>
          <a:prstGeom prst="roundRect">
            <a:avLst/>
          </a:prstGeom>
          <a:solidFill>
            <a:srgbClr val="49B6FF"/>
          </a:solidFill>
          <a:ln w="12700">
            <a:solidFill>
              <a:srgbClr val="49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2121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0299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Chọn thuật toán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Sorting/Graph/Tree…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3246120"/>
            <a:ext cx="228600" cy="0"/>
          </a:xfrm>
          <a:prstGeom prst="line">
            <a:avLst/>
          </a:prstGeom>
          <a:noFill/>
          <a:ln w="38100">
            <a:solidFill>
              <a:srgbClr val="49B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566160" y="1828800"/>
            <a:ext cx="2514600" cy="288036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749040" y="2057400"/>
            <a:ext cx="502920" cy="502920"/>
          </a:xfrm>
          <a:prstGeom prst="roundRect">
            <a:avLst/>
          </a:prstGeom>
          <a:solidFill>
            <a:srgbClr val="49B6FF"/>
          </a:solidFill>
          <a:ln w="12700">
            <a:solidFill>
              <a:srgbClr val="49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749040" y="2121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43400" y="20299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Nhập dữ liệu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Mảng, danh sách cạnh…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3246120"/>
            <a:ext cx="228600" cy="0"/>
          </a:xfrm>
          <a:prstGeom prst="line">
            <a:avLst/>
          </a:prstGeom>
          <a:noFill/>
          <a:ln w="38100">
            <a:solidFill>
              <a:srgbClr val="49B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2514600" cy="288036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92240" y="2057400"/>
            <a:ext cx="502920" cy="502920"/>
          </a:xfrm>
          <a:prstGeom prst="roundRect">
            <a:avLst/>
          </a:prstGeom>
          <a:solidFill>
            <a:srgbClr val="49B6FF"/>
          </a:solidFill>
          <a:ln w="12700">
            <a:solidFill>
              <a:srgbClr val="49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92240" y="2121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20299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Chạy &amp; quan sát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Step/Play, xem biến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23960" y="3246120"/>
            <a:ext cx="228600" cy="0"/>
          </a:xfrm>
          <a:prstGeom prst="line">
            <a:avLst/>
          </a:prstGeom>
          <a:noFill/>
          <a:ln w="38100">
            <a:solidFill>
              <a:srgbClr val="49B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052560" y="1828800"/>
            <a:ext cx="2514600" cy="288036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9235440" y="2057400"/>
            <a:ext cx="502920" cy="502920"/>
          </a:xfrm>
          <a:prstGeom prst="roundRect">
            <a:avLst/>
          </a:prstGeom>
          <a:solidFill>
            <a:srgbClr val="49B6FF"/>
          </a:solidFill>
          <a:ln w="12700">
            <a:solidFill>
              <a:srgbClr val="49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235440" y="2121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29800" y="20299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Làm quiz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35440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hiểu bài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" y="4983480"/>
            <a:ext cx="10561320" cy="114300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97280" y="5257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dùng “Step” ở những đoạn khó (partition của Quick Sort, relax của Dijkstra, rotation của AVL).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18) Hướng phát triển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143000"/>
            <a:ext cx="5440680" cy="251460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Mở rộng thuật toán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01368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DP: LCS, knapsack, shortest path on DAG.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Cấu trúc dữ liệu nâng cao: segment tree, trie.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algorithms: KMP, Z, suffix array (cơ bản).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143000"/>
            <a:ext cx="4919472" cy="251460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720840" y="137160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Trải nghiệm học tập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1801368"/>
            <a:ext cx="437083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học theo “mission” + chấm điểm.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Lộ trình cá nhân hóa theo điểm quiz.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Chế độ giảng viên: tạo lớp và giao bài.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5440680" cy="242316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97280" y="40690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AI trợ giảng offline (tùy chọn)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498848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trên giáo trình/slide để trả lời đúng ngữ cảnh.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sinh input “gây lỗi” để dạy case biên.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Chẩn đoán sai lầm từ log thao tác.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3840480"/>
            <a:ext cx="4919472" cy="242316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20840" y="406908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Kỹ thuật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4498848"/>
            <a:ext cx="43708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Chạy offline (PWA) và đồng bộ khi có mạng.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Ghi hình (record) và chia sẻ link bài học.</a:t>
            </a:r>
            <a:endParaRPr lang="en-US" sz="13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Tối ưu render bằng WebGL cho dataset lớn.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19) Kết luận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kết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CS106 (UIT) • Đồ án môn Trí tuệ nhân tạo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0" y="6601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143000"/>
            <a:ext cx="10561320" cy="4983480"/>
          </a:xfrm>
          <a:prstGeom prst="roundRect">
            <a:avLst/>
          </a:prstGeom>
          <a:solidFill>
            <a:srgbClr val="0F2A3F"/>
          </a:solidFill>
          <a:ln w="12700">
            <a:solidFill>
              <a:srgbClr val="203A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DSA Visualizer cung cấp: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 họa thuật toán theo từng bước + timeline.</a:t>
            </a:r>
            <a:endParaRPr lang="en-US" sz="1600" dirty="0"/>
          </a:p>
          <a:p>
            <a:pPr marL="279400" indent="-2794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engine và UI giúp mở rộng nhanh.</a:t>
            </a:r>
            <a:endParaRPr lang="en-US" sz="1600" dirty="0"/>
          </a:p>
          <a:p>
            <a:pPr marL="279400" indent="-2794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trợ giảng (rule-based) để gợi ý và sinh quiz.</a:t>
            </a:r>
            <a:endParaRPr lang="en-US" sz="1600" dirty="0"/>
          </a:p>
          <a:p>
            <a:pPr marL="279400" indent="-2794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 thể dùng cho tự học hoặc trợ giảng trên lớp.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4434840"/>
            <a:ext cx="10058400" cy="132588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49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EE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&amp; A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2686</Words>
  <Application>Microsoft Office PowerPoint</Application>
  <PresentationFormat>Widescreen</PresentationFormat>
  <Paragraphs>364</Paragraphs>
  <Slides>19</Slides>
  <Notes>19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Visualizer</dc:title>
  <dc:subject>Xây dựng hệ thống minh họa thuật toán cho môn DSA</dc:subject>
  <dc:creator>CS106 - UIT</dc:creator>
  <cp:lastModifiedBy>Bùi Tấn Thiện Tâm</cp:lastModifiedBy>
  <cp:revision>3</cp:revision>
  <dcterms:created xsi:type="dcterms:W3CDTF">2025-12-29T04:00:45Z</dcterms:created>
  <dcterms:modified xsi:type="dcterms:W3CDTF">2025-12-29T09:07:58Z</dcterms:modified>
</cp:coreProperties>
</file>